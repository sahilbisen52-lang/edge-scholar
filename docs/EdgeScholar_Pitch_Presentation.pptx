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4114800" cy="365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QUALCOMM SNAPDRAGON AI LAB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2865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8FAFC"/>
                </a:solidFill>
              </a:defRPr>
            </a:pPr>
            <a:r>
              <a:t>EdgeScholar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59E0B"/>
                </a:solidFill>
              </a:defRPr>
            </a:pPr>
            <a:r>
              <a:t>Private On-Device AI Study Copilot for Snapdragon-Powered HP PCs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 tactile, 100% offline-first learning studio that turns student textbooks into interactive, page-cited knowledge graphs with zero cloud leakage, zero subscription fees, and instant NPU acceleration.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413455" cy="1645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3047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100% OFFLINE RAG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Zero data leaves the device.</a:t>
            </a:r>
            <a:br/>
            <a:r>
              <a:t>Full privacy for sensitive notes.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931920"/>
            <a:ext cx="3413455" cy="1645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4069080"/>
            <a:ext cx="3047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59E0B"/>
                </a:solidFill>
              </a:defRPr>
            </a:pPr>
            <a:r>
              <a:t>QUALCOMM QNN ACCELERATED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Native Hexagon NPU execution</a:t>
            </a:r>
            <a:br/>
            <a:r>
              <a:t>via Qualcomm AI Hub models.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931920"/>
            <a:ext cx="3413455" cy="1645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069080"/>
            <a:ext cx="3047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EA5E9"/>
                </a:solidFill>
              </a:defRPr>
            </a:pPr>
            <a:r>
              <a:t>PAGE-ACCURATE CITATIONS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Every answer anchors directly</a:t>
            </a:r>
            <a:br/>
            <a:r>
              <a:t>to textbook page numbers.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94A3B8"/>
                </a:solidFill>
              </a:defRPr>
            </a:pPr>
            <a:r>
              <a:t>Target Hardware: HP OmniBook X &amp; HP OmniBook Ultra  •  Participant: Sahil Bisen  •  Repository: github.com/sahilbisen52-lang/edge-scholar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PROBLEM STATEMENT &amp; STUDENT DILEMMA   |   SLIDE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Why Cloud AI Fails Students &amp; Researchers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Commercial AI services (ChatGPT, Claude, NotebookLM) introduce critical blockers for academic use: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13455" cy="3931920"/>
          </a:xfrm>
          <a:prstGeom prst="roundRect">
            <a:avLst/>
          </a:prstGeom>
          <a:solidFill>
            <a:srgbClr val="121927"/>
          </a:solidFill>
          <a:ln w="12700">
            <a:solidFill>
              <a:srgbClr val="2632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295625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EA580C"/>
                </a:solidFill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</a:defRPr>
            </a:pPr>
            <a:r>
              <a:t>PRIVACY &amp; IP RISKS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Uploading proprietary research, unreleased exam questions, or copyrighted textbooks to cloud LLMs violates academic copyright and leaks sensitive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13455" cy="3931920"/>
          </a:xfrm>
          <a:prstGeom prst="roundRect">
            <a:avLst/>
          </a:prstGeom>
          <a:solidFill>
            <a:srgbClr val="121927"/>
          </a:solidFill>
          <a:ln w="12700">
            <a:solidFill>
              <a:srgbClr val="2632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295625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F59E0B"/>
                </a:solidFill>
              </a:defRPr>
            </a:pPr>
            <a:r>
              <a:t>02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</a:defRPr>
            </a:pPr>
            <a:r>
              <a:t>CONNECTIVITY OUTAGES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Campus Wi-Fi dead zones, library basements, and flights completely break cloud study workflows when students need them most.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413455" cy="3931920"/>
          </a:xfrm>
          <a:prstGeom prst="roundRect">
            <a:avLst/>
          </a:prstGeom>
          <a:solidFill>
            <a:srgbClr val="121927"/>
          </a:solidFill>
          <a:ln w="12700">
            <a:solidFill>
              <a:srgbClr val="2632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295625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0EA5E9"/>
                </a:solidFill>
              </a:defRPr>
            </a:pPr>
            <a:r>
              <a:t>03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</a:defRPr>
            </a:pPr>
            <a:r>
              <a:t>PAYWALLS &amp; EXPENSES</a:t>
            </a:r>
          </a:p>
          <a:p>
            <a:pPr>
              <a:defRPr sz="1150">
                <a:solidFill>
                  <a:srgbClr val="CBD5E1"/>
                </a:solidFill>
              </a:defRPr>
            </a:pPr>
            <a:r>
              <a:t>Monthly $20+ subscriptions impose financial barriers on students worldwide ($240+/year), while free tiers limit usage and throttle performance.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4572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★ The Need: An autonomous, zero-cloud study environment that operates at full speed without internet.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PRODUCT INNOVATION &amp; VALUE PROPOSITION   |   SLIDE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EdgeScholar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 distraction-free, tactile desktop studio running 100% on-device on Snapdragon PCs: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295625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ZERO CLOUD LEAKAGE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Complete Data Sovereignty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All PDFs, lecture notes, and queries stay on device.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Enforced by software NetworkGuard blocking packets.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One-click complete data shredder for zero traces.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No telemetry, no tracking, no external API keys.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295625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PAGE-ACCURATE CITATIONS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Verifiable Factual Grounding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Extracts text while preserving physical page boundaries.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Every answer includes interactive page tags [Page X].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Eliminates AI hallucinations with strict context gating.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Students verify facts directly in their textbooks.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295625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COMPLETE STUDY DESK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All-In-One Learning Studio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Natural dialogue for complex conceptual Q&amp;A.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Interactive Self-Quiz generator with scoring &amp; hints.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Active recall flashcards with digital flip animation.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Local Whisper ASR lecture recording to structured notes.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4572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★ High Impact: Saves students $240/year while delivering sub-second, battery-friendly on-device 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TECHNICAL IMPLEMENTATION (TOP TIE-BREAKER)   |   SLIDE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End-to-End On-Device RAG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 modular, production-grade AI pipeline engineered specifically for Snapdragon hardware: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2560320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19456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STAGE 1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DOCUMENT INGESTION</a:t>
            </a:r>
          </a:p>
          <a:p>
            <a:pPr>
              <a:spcAft>
                <a:spcPts val="800"/>
              </a:spcAft>
              <a:defRPr sz="1050">
                <a:solidFill>
                  <a:srgbClr val="F59E0B"/>
                </a:solidFill>
              </a:defRPr>
            </a:pPr>
            <a:r>
              <a:t>PyMuPDF Parser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Extracts raw text + byte metadata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Preserves physical page numbers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SHA-256 integrity verification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PDF, Markdown, &amp; Text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920240"/>
            <a:ext cx="2560320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057400"/>
            <a:ext cx="219456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STAGE 2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PAGE-AWARE CHUNKING</a:t>
            </a:r>
          </a:p>
          <a:p>
            <a:pPr>
              <a:spcAft>
                <a:spcPts val="800"/>
              </a:spcAft>
              <a:defRPr sz="1050">
                <a:solidFill>
                  <a:srgbClr val="F59E0B"/>
                </a:solidFill>
              </a:defRPr>
            </a:pPr>
            <a:r>
              <a:t>Sliding Window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400-token chunks with 60 overlap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Embeds doc_id &amp; page_number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Quarantine fencing delimiters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Neutralizes prompt injections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2560320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219456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STAGE 3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LOCAL VECTOR STORE</a:t>
            </a:r>
          </a:p>
          <a:p>
            <a:pPr>
              <a:spcAft>
                <a:spcPts val="800"/>
              </a:spcAft>
              <a:defRPr sz="1050">
                <a:solidFill>
                  <a:srgbClr val="F59E0B"/>
                </a:solidFill>
              </a:defRPr>
            </a:pPr>
            <a:r>
              <a:t>FAISS IndexFlatIP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Dense 384-dimensional embeddings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all-MiniLM-L6-v2 local cache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Inner-product cosine similarity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Sub-5ms vector retrieval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920240"/>
            <a:ext cx="2560320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2057400"/>
            <a:ext cx="219456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STAGE 4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t>NPU GENERATION</a:t>
            </a:r>
          </a:p>
          <a:p>
            <a:pPr>
              <a:spcAft>
                <a:spcPts val="800"/>
              </a:spcAft>
              <a:defRPr sz="1050">
                <a:solidFill>
                  <a:srgbClr val="F59E0B"/>
                </a:solidFill>
              </a:defRPr>
            </a:pPr>
            <a:r>
              <a:t>Qualcomm QNN / Hexagon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AIProvider hardware abstraction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QNNExecutionProvider on NPU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Graceful CPU / ONNX fallback</a:t>
            </a:r>
          </a:p>
          <a:p>
            <a:pPr>
              <a:spcAft>
                <a:spcPts val="400"/>
              </a:spcAft>
              <a:defRPr sz="950">
                <a:solidFill>
                  <a:srgbClr val="CBD5E1"/>
                </a:solidFill>
              </a:defRPr>
            </a:pPr>
            <a:r>
              <a:t>• Strict citation badge builder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35040"/>
            <a:ext cx="10728655" cy="4572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★ Zero External SaaS: Entire pipeline runs locally in Python with asynchronous Qt worker threads.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QUALCOMM AI HUB MODEL INTEGRATION   |   SLIDE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Snapdragon Hexagon NPU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EdgeScholar workflows natively with curated models from Qualcomm AI Hub (aihub.qualcomm.com):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LLAMA 3.2 3B INSTRUCT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Text Generation &amp; Reasoning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Precision: w4a16 / INT4 Quantized</a:t>
            </a:r>
            <a:br/>
            <a:r>
              <a:t>Target Runtime: Qualcomm QNN / ONNX Runtime QNNExecutionProvider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Powers conceptual student Q&amp;A with deep factual reasoning.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Sub-second Token-To-First-Token (TTFT) at ultra-low power.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Integrated compile script: 'scripts/qualcomm_ai_hub_workflow.py'.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WHISPER BASE ENGLISH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Real-Time Audio Transcription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Precision: FP16 / INT8 Quantized</a:t>
            </a:r>
            <a:br/>
            <a:r>
              <a:t>Target Runtime: Qualcomm Hexagon NPU (DSP Acceleration)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Transcribes 1-hour lectures locally without battery drain.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16kHz WAV audio recorder integration with timestamped chunks.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Generates structured lecture revision notes offline.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ALL-MINILM-L6-V2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Dense Semantic Retrieval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</a:defRPr>
            </a:pPr>
            <a:r>
              <a:t>Precision: FP16 Normalized Vectors</a:t>
            </a:r>
            <a:br/>
            <a:r>
              <a:t>Target Runtime: ONNX Runtime + Hexagon NPU &amp; ARM64 CPU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Embeds student textbook passages in &lt;0.09s per batch.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384-dimensional dense semantic vectors cached on disk.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100% offline local model loading with 'local_files_only=True'.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4572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★ 45 TOPS NPU Efficiency: Maximizes HP OmniBook laptop battery life while keeping generation whisper-quiet.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APPLICATION USE CASE &amp; INNOVATION (CRITERION 2)   |   SLIDE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Tactile 'Study Desk'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An editorial, distraction-free student studio inspired by Bear and Craft (anti-AI aesthetic):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42255" cy="192024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764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01 / PAGE CITATIONS — Verifiable Factual Context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Every claim includes interactive source badges.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Clicking [OS.txt, Page 2] references textbook excerpt.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Eliminates guesswork and builds student trust.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Prevents plagiarism with direct citation chains.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42255" cy="192024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764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EA5E9"/>
                </a:solidFill>
              </a:defRPr>
            </a:pPr>
            <a:r>
              <a:t>02 / INTERACTIVE SELF-QUIZZES — Active Testing &amp; Examination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Generates 4-choice multiple choice questions.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Instant grading with green/red score feedback.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Pedagogical answer explanations for mistakes.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Stores quiz stats locally in SQLite.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42255" cy="192024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8764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03 / PRACTICE FLASHCARDS — Spaced Repetition Mastery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Generates digital question/answer flip cards.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Front prompt tests memory, back verifies answer.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Categorized by chapter and core topic.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Accelerates exam preparation and fact recall.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42255" cy="192024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69080"/>
            <a:ext cx="48764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EA580C"/>
                </a:solidFill>
              </a:defRPr>
            </a:pPr>
            <a:r>
              <a:t>04 / CHAPTER NOTES &amp; LECTURE AUDIO — Automated Study Synthesis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Creates structured markdown chapter summaries.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Highlights Key Concepts, Formulas, &amp; Exam Takeaways.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16kHz WAV audio recorder for live lectures.</a:t>
            </a:r>
          </a:p>
          <a:p>
            <a:pPr>
              <a:spcAft>
                <a:spcPts val="200"/>
              </a:spcAft>
              <a:defRPr sz="1000">
                <a:solidFill>
                  <a:srgbClr val="CBD5E1"/>
                </a:solidFill>
              </a:defRPr>
            </a:pPr>
            <a:r>
              <a:t>• Transcribes lectures directly to searchable notes.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35040"/>
            <a:ext cx="10728655" cy="4572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★ Unified Single Canvas: Left bookshelf ('My Shelf') + Main desk eliminates confusing tabs and cognitive clutter.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SECURITY &amp; THREAT MODEL   |   SLIDE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Defense-in-Depth Privacy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EdgeScholar enforces strict cryptographic, software, and physical security boundaries: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NETWORK GUARD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Guaranteed Offline Air-Gap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Intercepts operations to verify offline_mode=True.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Raises PrivacyViolationError on any network attempt.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Zero telemetry, zero pings, zero logged tokens.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Works on airplanes and disconnected environments.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PROMPT INJECTION FENCING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Adversarial Quarantine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Textbook chunks are quarantined in delimiter boxes.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Blocks untrusted documents from overriding system instructions.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Mitigates prompt extraction and indirect prompt injections.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Guarantees the model remains an objective tutor.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ONE-CLICK SHREDDER</a:t>
            </a:r>
          </a:p>
          <a:p>
            <a:pPr>
              <a:spcAft>
                <a:spcPts val="800"/>
              </a:spcAft>
              <a:defRPr sz="1100">
                <a:solidFill>
                  <a:srgbClr val="F8FAFC"/>
                </a:solidFill>
              </a:defRPr>
            </a:pPr>
            <a:r>
              <a:t>Complete Data Sovereignty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LocalStorageInfo monitors local disk utilization.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DeletionManager executes secure zero-trace shredding.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Purges SQLite database, FAISS index, and cache.</a:t>
            </a:r>
          </a:p>
          <a:p>
            <a:pPr>
              <a:spcAft>
                <a:spcPts val="500"/>
              </a:spcAft>
              <a:defRPr sz="1050">
                <a:solidFill>
                  <a:srgbClr val="CBD5E1"/>
                </a:solidFill>
              </a:defRPr>
            </a:pPr>
            <a:r>
              <a:t>• Student leaves no footprint on borrowed/shared PCs.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4572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★ Zero Risk of Data Leakage: 100% compliant with university and institutional research privacy protocols.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HARDWARE TRANSPARENCY &amp; INTEGRITY   |   SLIDE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Conservative Hardware Probing vs Fake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EdgeScholar adheres to strict ethical engineering principles regarding hardware claims: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42255" cy="3931920"/>
          </a:xfrm>
          <a:prstGeom prst="roundRect">
            <a:avLst/>
          </a:prstGeom>
          <a:solidFill>
            <a:srgbClr val="191216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8764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EA580C"/>
                </a:solidFill>
              </a:defRPr>
            </a:pPr>
            <a:r>
              <a:t>THE INDUSTRY FLAW: FAKE METRICS</a:t>
            </a:r>
          </a:p>
          <a:p>
            <a:pPr>
              <a:spcAft>
                <a:spcPts val="600"/>
              </a:spcAft>
              <a:defRPr sz="1100">
                <a:solidFill>
                  <a:srgbClr val="FCA5A5"/>
                </a:solidFill>
              </a:defRPr>
            </a:pPr>
            <a:r>
              <a:t>✗  Hardcoded marketing TOPS claims on unsupported devices.</a:t>
            </a:r>
          </a:p>
          <a:p>
            <a:pPr>
              <a:spcAft>
                <a:spcPts val="600"/>
              </a:spcAft>
              <a:defRPr sz="1100">
                <a:solidFill>
                  <a:srgbClr val="FCA5A5"/>
                </a:solidFill>
              </a:defRPr>
            </a:pPr>
            <a:r>
              <a:t>✗  Fabricating synthetic throughput to impress competition evaluators.</a:t>
            </a:r>
          </a:p>
          <a:p>
            <a:pPr>
              <a:spcAft>
                <a:spcPts val="600"/>
              </a:spcAft>
              <a:defRPr sz="1100">
                <a:solidFill>
                  <a:srgbClr val="FCA5A5"/>
                </a:solidFill>
              </a:defRPr>
            </a:pPr>
            <a:r>
              <a:t>✗  Assuming NPU availability simply because Windows ARM is detected.</a:t>
            </a:r>
          </a:p>
          <a:p>
            <a:pPr>
              <a:spcAft>
                <a:spcPts val="600"/>
              </a:spcAft>
              <a:defRPr sz="1100">
                <a:solidFill>
                  <a:srgbClr val="FCA5A5"/>
                </a:solidFill>
              </a:defRPr>
            </a:pPr>
            <a:r>
              <a:t>✗  Hidden cloud calls when local model inference fails.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42255" cy="3931920"/>
          </a:xfrm>
          <a:prstGeom prst="roundRect">
            <a:avLst/>
          </a:prstGeom>
          <a:solidFill>
            <a:srgbClr val="101C1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764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THE EDGESCHOLAR STANDARD: REAL TIMERS</a:t>
            </a:r>
          </a:p>
          <a:p>
            <a:pPr>
              <a:spcAft>
                <a:spcPts val="600"/>
              </a:spcAft>
              <a:defRPr sz="1100">
                <a:solidFill>
                  <a:srgbClr val="A7F3D0"/>
                </a:solidFill>
              </a:defRPr>
            </a:pPr>
            <a:r>
              <a:t>✓  Conservative classification: VERIFIED, PRESENT, NOT_DETECTED.</a:t>
            </a:r>
          </a:p>
          <a:p>
            <a:pPr>
              <a:spcAft>
                <a:spcPts val="600"/>
              </a:spcAft>
              <a:defRPr sz="1100">
                <a:solidFill>
                  <a:srgbClr val="A7F3D0"/>
                </a:solidFill>
              </a:defRPr>
            </a:pPr>
            <a:r>
              <a:t>✓  Reports NPU as VERIFIED only when QNN EP explicitly reports execution.</a:t>
            </a:r>
          </a:p>
          <a:p>
            <a:pPr>
              <a:spcAft>
                <a:spcPts val="600"/>
              </a:spcAft>
              <a:defRPr sz="1100">
                <a:solidFill>
                  <a:srgbClr val="A7F3D0"/>
                </a:solidFill>
              </a:defRPr>
            </a:pPr>
            <a:r>
              <a:t>✓  All benchmarks instrumented with high-res 'time.perf_counter()'.</a:t>
            </a:r>
          </a:p>
          <a:p>
            <a:pPr>
              <a:spcAft>
                <a:spcPts val="600"/>
              </a:spcAft>
              <a:defRPr sz="1100">
                <a:solidFill>
                  <a:srgbClr val="A7F3D0"/>
                </a:solidFill>
              </a:defRPr>
            </a:pPr>
            <a:r>
              <a:t>✓  Measures genuine memory delta via 'psutil' and logs to CSV/JSON.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6035040"/>
            <a:ext cx="10728655" cy="4572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★ Integrity First: Full hardware diagnostics available via 'python scripts/detect_environment.py'.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VERIFICATION &amp; TESTING EVIDENCE (CRITERION 4)   |   SLIDE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Rigorous Testing &amp; Subsystem Scorecard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Every single functional layer and service has been executed, audited, and verified operational: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13455" cy="2743200"/>
          </a:xfrm>
          <a:prstGeom prst="roundRect">
            <a:avLst/>
          </a:prstGeom>
          <a:solidFill>
            <a:srgbClr val="121927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139135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10B981"/>
                </a:solidFill>
              </a:defRPr>
            </a:pPr>
            <a:r>
              <a:t>20 / 20</a:t>
            </a:r>
          </a:p>
          <a:p>
            <a:pPr algn="ctr"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SUBSYSTEMS OPERATIONAL</a:t>
            </a:r>
          </a:p>
          <a:p>
            <a:pPr algn="ctr">
              <a:defRPr sz="950">
                <a:solidFill>
                  <a:srgbClr val="94A3B8"/>
                </a:solidFill>
              </a:defRPr>
            </a:pPr>
            <a:r>
              <a:t>End-to-End System Audit Passed</a:t>
            </a:r>
            <a:br/>
            <a:r>
              <a:t>(scripts/verify_all_features.py)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13455" cy="2743200"/>
          </a:xfrm>
          <a:prstGeom prst="roundRect">
            <a:avLst/>
          </a:prstGeom>
          <a:solidFill>
            <a:srgbClr val="121927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057400"/>
            <a:ext cx="3139135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F59E0B"/>
                </a:solidFill>
              </a:defRPr>
            </a:pPr>
            <a:r>
              <a:t>31 / 31</a:t>
            </a:r>
          </a:p>
          <a:p>
            <a:pPr algn="ctr"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AUTOMATED TESTS PASSING</a:t>
            </a:r>
          </a:p>
          <a:p>
            <a:pPr algn="ctr">
              <a:defRPr sz="950">
                <a:solidFill>
                  <a:srgbClr val="94A3B8"/>
                </a:solidFill>
              </a:defRPr>
            </a:pPr>
            <a:r>
              <a:t>PyTest Unit &amp; Integration Suite</a:t>
            </a:r>
            <a:br/>
            <a:r>
              <a:t>(All 31 test cases green in 4.19s)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413455" cy="2743200"/>
          </a:xfrm>
          <a:prstGeom prst="roundRect">
            <a:avLst/>
          </a:prstGeom>
          <a:solidFill>
            <a:srgbClr val="121927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2057400"/>
            <a:ext cx="3139135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  <a:defRPr sz="3600" b="1">
                <a:solidFill>
                  <a:srgbClr val="0EA5E9"/>
                </a:solidFill>
              </a:defRPr>
            </a:pPr>
            <a:r>
              <a:t>17 / 17</a:t>
            </a:r>
          </a:p>
          <a:p>
            <a:pPr algn="ctr"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INSTALLATION CHECKS</a:t>
            </a:r>
          </a:p>
          <a:p>
            <a:pPr algn="ctr">
              <a:defRPr sz="950">
                <a:solidFill>
                  <a:srgbClr val="94A3B8"/>
                </a:solidFill>
              </a:defRPr>
            </a:pPr>
            <a:r>
              <a:t>Dependency &amp; Runtime Health</a:t>
            </a:r>
            <a:br/>
            <a:r>
              <a:t>(scripts/validate_installation.py)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46320"/>
            <a:ext cx="10728655" cy="1645920"/>
          </a:xfrm>
          <a:prstGeom prst="roundRect">
            <a:avLst/>
          </a:prstGeom>
          <a:solidFill>
            <a:srgbClr val="121927"/>
          </a:solidFill>
          <a:ln w="12700">
            <a:solidFill>
              <a:srgbClr val="2632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37760"/>
            <a:ext cx="10362895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VERIFIED SUBSYSTEM BREAKDOWN:</a:t>
            </a:r>
          </a:p>
          <a:p>
            <a:pPr>
              <a:lnSpc>
                <a:spcPct val="130000"/>
              </a:lnSpc>
              <a:defRPr sz="950">
                <a:solidFill>
                  <a:srgbClr val="CBD5E1"/>
                </a:solidFill>
              </a:defRPr>
            </a:pPr>
            <a:r>
              <a:t>✓ AppContext &amp; Storage Layout   ✓ Document Parsing &amp; Hash Integrity   ✓ SQLite CRUD Store   ✓ 400-Token Overlapping Chunker</a:t>
            </a:r>
            <a:br/>
            <a:r>
              <a:t>✓ Local MiniLM 384D Embeddings  ✓ FAISS Vector Store IndexFlatIP      ✓ Semantic Top-K Filter  ✓ Grounded RAG Pipeline</a:t>
            </a:r>
            <a:br/>
            <a:r>
              <a:t>✓ Summarizer &amp; Chapter Notes     ✓ Interactive Quiz Engine             ✓ Spaced Practice Cards  ✓ Local Whisper Audio Stack</a:t>
            </a:r>
            <a:br/>
            <a:r>
              <a:t>✓ Snapdragon System Detector     ✓ Privacy NetworkGuard Gating         ✓ Qualcomm AI Hub SDK   ✓ All 8 PySide6 Desktop Views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11480"/>
            <a:ext cx="1072865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SUMMARY &amp; WINNING POTENTIAL   |   SLIDE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Why EdgeScholar Wins 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A complete alignment across technical execution, innovation, accessibility, and documentation: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59E0B"/>
                </a:solidFill>
              </a:defRPr>
            </a:pPr>
            <a:r>
              <a:t>EXACT MATCH TO GUIDELINES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Specifically intended and optimized for Snapdragon-powered HP PCs.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Incorporates Qualcomm AI Hub models (Llama 3.2, Whisper, MiniLM).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Solely owned by participant with 100% original code.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Zero cloud dependencies or API keys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CRITERION 1 TIE-BREAKER CHAMPION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Production-ready RAG stack: PyMuPDF, FAISS IndexFlatIP, and SQLite.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Active multi-provider layer for Qualcomm QNN, ONNX, and llama.cpp.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Automated prompt-injection defenses and strict page citations.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31/31 unit &amp; integration tests passing with 20/20 subsystems operational.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413455" cy="3931920"/>
          </a:xfrm>
          <a:prstGeom prst="roundRect">
            <a:avLst/>
          </a:prstGeom>
          <a:solidFill>
            <a:srgbClr val="121927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57400"/>
            <a:ext cx="3047695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EA5E9"/>
                </a:solidFill>
              </a:defRPr>
            </a:pPr>
            <a:r>
              <a:t>FRICTIONLESS JUDGING ACCESS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Cross-platform fallback guarantees instant evaluation on any laptop.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Pre-seeded with study notes so judges test features immediately.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Complete GitHub repository with transparent commit history.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• Full Pitch Deck, Architecture Guide, and Threat Model included.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4572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★ Live Open-Source Repository: https://github.com/sahilbisen52-lang/edge-scholar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